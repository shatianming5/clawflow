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EEF2F6"/>
                </a:solidFill>
              </a:defRPr>
            </a:pPr>
            <a:r>
              <a:t>ClawFlow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面向下一代个人智能体的轻量级 Agent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从 Chatbot 到 AgentOS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Agent 需要可执行、可记忆、可恢复、可治理的基础设施。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agentos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现有问题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Demo 化严重、缺少状态恢复、权限不可控、执行不可观测、插件和记忆难管理。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06440" y="1143000"/>
            <a:ext cx="5394960" cy="4297680"/>
          </a:xfrm>
          <a:prstGeom prst="rect">
            <a:avLst/>
          </a:prstGeom>
          <a:solidFill>
            <a:srgbClr val="171B22"/>
          </a:solidFill>
          <a:ln>
            <a:solidFill>
              <a:srgbClr val="2B3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28800"/>
            <a:ext cx="47548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EEF2F6"/>
                </a:solidFill>
              </a:defRPr>
            </a:pPr>
            <a:r>
              <a:t>ClawFlow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Unified Runtime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Real State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Replayable Trace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项目目标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能执行、能记忆、能恢复、能治理、能扩展、能支撑真实应用构建。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06440" y="1143000"/>
            <a:ext cx="5394960" cy="4297680"/>
          </a:xfrm>
          <a:prstGeom prst="rect">
            <a:avLst/>
          </a:prstGeom>
          <a:solidFill>
            <a:srgbClr val="171B22"/>
          </a:solidFill>
          <a:ln>
            <a:solidFill>
              <a:srgbClr val="2B3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28800"/>
            <a:ext cx="47548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EEF2F6"/>
                </a:solidFill>
              </a:defRPr>
            </a:pPr>
            <a:r>
              <a:t>ClawFlow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Unified Runtime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Real State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Replayable Trace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Gateway + AgentOS Kernel + Tool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Sandbox + Memory + Trace + Plugin +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Applications。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AgentOS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Runtime Kernel、State Manager、Event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Bus、Scheduler、Policy Engine。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agentos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Agent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Planner 生成 Plan，Executor 执行 Step，Tool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Registry 提供能力边界。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Workflow +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Step Graph、Retry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边界、Resume、Replay、Workflow Export。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Tool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BaseTool 元数据、risk_level、schema、shell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白名单。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tool_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Permission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allow / ask / deny、Human-in-the-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loop、Audit Log。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Human Approval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Web/API/CLI approve or deny pending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high-risk tool calls with trace and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audit updates.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appro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Memory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SQLite 长期记忆、keyword search、hit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count、vector interface。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Trace Timeline、Metrics、Error、Cost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estimation、Replay。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trac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Prompt Registry + Cost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Prompt templates, usage count,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estimated tokens, cost and failure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co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Tool Usage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Aggregate real tool_call trace events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to show runtime behavior and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infrastructure observability.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tool_us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Multi-channel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CLI、FastAPI、Web UI 共享同一个 Runtime。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Plugin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Manifest-driven Plugin Registry and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MCP-like connector 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plugin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Multi-agent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ManagerAgent、ResearchAgent、ToolAgent、C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riticAgent、ReportAgent。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multi_agen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RAG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Document ingestion、chunk、retrieval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trace、grounded answer。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From Demo to Example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Example Applications 不是孤立脚本，而是 Runtime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验证工作负载。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example_application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Application 1: Research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生成项目摘要、报告大纲、TODO，并写入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trace/memory/checkpoint。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cli_research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Application 2: Personal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生成 daily_plan.md 并写入长期记忆。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Application 3: Safe Tool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高风险删除请求转为 dry-run，记录 audit。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audit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Application 4: Multi-agent /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多角色协作与文档检索回答均通过统一 Runtime。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真实 Runtime 任务生成 latency、success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rate、tool calls、trace events。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benchmark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开源协议与社区规范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Apache-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2.0、CONTRIBUTING、SECURITY、GOVERNANCE、R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OADMAP。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06440" y="1143000"/>
            <a:ext cx="5394960" cy="4297680"/>
          </a:xfrm>
          <a:prstGeom prst="rect">
            <a:avLst/>
          </a:prstGeom>
          <a:solidFill>
            <a:srgbClr val="171B22"/>
          </a:solidFill>
          <a:ln>
            <a:solidFill>
              <a:srgbClr val="2B3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28800"/>
            <a:ext cx="47548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EEF2F6"/>
                </a:solidFill>
              </a:defRPr>
            </a:pPr>
            <a:r>
              <a:t>ClawFlow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Unified Runtime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Real State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Replayable Trace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对比与差异化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从 demo.py 到可复用开发框架；从黑盒执行到可观测 Runtime。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806440" y="1143000"/>
            <a:ext cx="5394960" cy="4297680"/>
          </a:xfrm>
          <a:prstGeom prst="rect">
            <a:avLst/>
          </a:prstGeom>
          <a:solidFill>
            <a:srgbClr val="171B22"/>
          </a:solidFill>
          <a:ln>
            <a:solidFill>
              <a:srgbClr val="2B3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28800"/>
            <a:ext cx="47548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EEF2F6"/>
                </a:solidFill>
              </a:defRPr>
            </a:pPr>
            <a:r>
              <a:t>ClawFlow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Unified Runtime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Real State</a:t>
            </a:r>
          </a:p>
          <a:p>
            <a:pPr algn="ctr">
              <a:defRPr sz="2500">
                <a:solidFill>
                  <a:srgbClr val="EEF2F6"/>
                </a:solidFill>
              </a:defRPr>
            </a:pPr>
            <a:r>
              <a:t>Replayable Trace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开发者框架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SDK wrapper、Application Template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Generator、Tool Template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Generator，支持二次开发。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未来展望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MCP、云端部署、移动端入口、企业知识库、多模型路由、插件市场。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EEF2F6"/>
                </a:solidFill>
              </a:defRPr>
            </a:pPr>
            <a: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从 Prompt Demo 到 Agent Runtime；从孤立样例到统一</a:t>
            </a:r>
          </a:p>
          <a:p>
            <a:pPr>
              <a:spcAft>
                <a:spcPts val="800"/>
              </a:spcAft>
              <a:defRPr sz="2100">
                <a:solidFill>
                  <a:srgbClr val="CBD5E1"/>
                </a:solidFill>
              </a:defRPr>
            </a:pPr>
            <a:r>
              <a:t>Runtime 驱动的基础设施。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D2B4"/>
                </a:solidFill>
              </a:defRPr>
            </a:pPr>
            <a:r>
              <a:t>Agent Runtime · AgentOS Kernel · Workflow Orchestration · Permission Governance · Trace Replay</a:t>
            </a:r>
          </a:p>
        </p:txBody>
      </p:sp>
      <p:pic>
        <p:nvPicPr>
          <p:cNvPr id="5" name="Picture 4" descr="web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960120"/>
            <a:ext cx="5989320" cy="4983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