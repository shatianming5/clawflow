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6217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200" b="1">
                <a:solidFill>
                  <a:srgbClr val="EEF2F6"/>
                </a:solidFill>
              </a:defRPr>
            </a:pPr>
            <a:r>
              <a:t>ClawFlow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502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CBD5E1"/>
                </a:solidFill>
              </a:defRPr>
            </a:pPr>
            <a:r>
              <a:t>面向下一代个人智能体的轻量级 Agent Runtime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89320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9D2B4"/>
                </a:solidFill>
              </a:defRPr>
            </a:pPr>
            <a:r>
              <a:t>Agent Runtime · AgentOS Kernel · Workflow Orchestration · Permission Governance · Trace Replay</a:t>
            </a:r>
          </a:p>
        </p:txBody>
      </p:sp>
      <p:pic>
        <p:nvPicPr>
          <p:cNvPr id="5" name="Picture 4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0" y="960120"/>
            <a:ext cx="5989320" cy="49834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6217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EEF2F6"/>
                </a:solidFill>
              </a:defRPr>
            </a:pPr>
            <a:r>
              <a:t>从 Chatbot 到 AgentOS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502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CBD5E1"/>
                </a:solidFill>
              </a:defRPr>
            </a:pPr>
            <a:r>
              <a:t>Agent 需要可执行、可记忆、可恢复、可治理的基础设施。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89320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9D2B4"/>
                </a:solidFill>
              </a:defRPr>
            </a:pPr>
            <a:r>
              <a:t>Agent Runtime · AgentOS Kernel · Workflow Orchestration · Permission Governance · Trace Replay</a:t>
            </a:r>
          </a:p>
        </p:txBody>
      </p:sp>
      <p:pic>
        <p:nvPicPr>
          <p:cNvPr id="5" name="Picture 4" descr="agentos_ker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0" y="960120"/>
            <a:ext cx="5989320" cy="49834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6217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EEF2F6"/>
                </a:solidFill>
              </a:defRPr>
            </a:pPr>
            <a:r>
              <a:t>现有问题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502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CBD5E1"/>
                </a:solidFill>
              </a:defRPr>
            </a:pPr>
            <a:r>
              <a:t>Demo 化严重、缺少状态恢复、权限不可控、执行不可观测、插件和记忆难管理。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89320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9D2B4"/>
                </a:solidFill>
              </a:defRPr>
            </a:pPr>
            <a:r>
              <a:t>Agent Runtime · AgentOS Kernel · Workflow Orchestration · Permission Governance · Trace Replay</a:t>
            </a:r>
          </a:p>
        </p:txBody>
      </p:sp>
      <p:sp>
        <p:nvSpPr>
          <p:cNvPr id="5" name="Rectangle 4"/>
          <p:cNvSpPr/>
          <p:nvPr/>
        </p:nvSpPr>
        <p:spPr>
          <a:xfrm>
            <a:off x="5806440" y="1143000"/>
            <a:ext cx="5394960" cy="4297680"/>
          </a:xfrm>
          <a:prstGeom prst="rect">
            <a:avLst/>
          </a:prstGeom>
          <a:solidFill>
            <a:srgbClr val="171B22"/>
          </a:solidFill>
          <a:ln>
            <a:solidFill>
              <a:srgbClr val="2B3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26480" y="1828800"/>
            <a:ext cx="475488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>
                <a:solidFill>
                  <a:srgbClr val="EEF2F6"/>
                </a:solidFill>
              </a:defRPr>
            </a:pPr>
            <a:r>
              <a:t>ClawFlow</a:t>
            </a:r>
          </a:p>
          <a:p>
            <a:pPr algn="ctr">
              <a:defRPr sz="2500">
                <a:solidFill>
                  <a:srgbClr val="EEF2F6"/>
                </a:solidFill>
              </a:defRPr>
            </a:pPr>
            <a:r>
              <a:t>Unified Runtime</a:t>
            </a:r>
          </a:p>
          <a:p>
            <a:pPr algn="ctr">
              <a:defRPr sz="2500">
                <a:solidFill>
                  <a:srgbClr val="EEF2F6"/>
                </a:solidFill>
              </a:defRPr>
            </a:pPr>
            <a:r>
              <a:t>Real State</a:t>
            </a:r>
          </a:p>
          <a:p>
            <a:pPr algn="ctr">
              <a:defRPr sz="2500">
                <a:solidFill>
                  <a:srgbClr val="EEF2F6"/>
                </a:solidFill>
              </a:defRPr>
            </a:pPr>
            <a:r>
              <a:t>Replayable Trace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6217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EEF2F6"/>
                </a:solidFill>
              </a:defRPr>
            </a:pPr>
            <a:r>
              <a:t>项目目标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502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CBD5E1"/>
                </a:solidFill>
              </a:defRPr>
            </a:pPr>
            <a:r>
              <a:t>能执行、能记忆、能恢复、能治理、能扩展、能支撑真实应用构建。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89320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9D2B4"/>
                </a:solidFill>
              </a:defRPr>
            </a:pPr>
            <a:r>
              <a:t>Agent Runtime · AgentOS Kernel · Workflow Orchestration · Permission Governance · Trace Replay</a:t>
            </a:r>
          </a:p>
        </p:txBody>
      </p:sp>
      <p:sp>
        <p:nvSpPr>
          <p:cNvPr id="5" name="Rectangle 4"/>
          <p:cNvSpPr/>
          <p:nvPr/>
        </p:nvSpPr>
        <p:spPr>
          <a:xfrm>
            <a:off x="5806440" y="1143000"/>
            <a:ext cx="5394960" cy="4297680"/>
          </a:xfrm>
          <a:prstGeom prst="rect">
            <a:avLst/>
          </a:prstGeom>
          <a:solidFill>
            <a:srgbClr val="171B22"/>
          </a:solidFill>
          <a:ln>
            <a:solidFill>
              <a:srgbClr val="2B3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26480" y="1828800"/>
            <a:ext cx="475488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>
                <a:solidFill>
                  <a:srgbClr val="EEF2F6"/>
                </a:solidFill>
              </a:defRPr>
            </a:pPr>
            <a:r>
              <a:t>ClawFlow</a:t>
            </a:r>
          </a:p>
          <a:p>
            <a:pPr algn="ctr">
              <a:defRPr sz="2500">
                <a:solidFill>
                  <a:srgbClr val="EEF2F6"/>
                </a:solidFill>
              </a:defRPr>
            </a:pPr>
            <a:r>
              <a:t>Unified Runtime</a:t>
            </a:r>
          </a:p>
          <a:p>
            <a:pPr algn="ctr">
              <a:defRPr sz="2500">
                <a:solidFill>
                  <a:srgbClr val="EEF2F6"/>
                </a:solidFill>
              </a:defRPr>
            </a:pPr>
            <a:r>
              <a:t>Real State</a:t>
            </a:r>
          </a:p>
          <a:p>
            <a:pPr algn="ctr">
              <a:defRPr sz="2500">
                <a:solidFill>
                  <a:srgbClr val="EEF2F6"/>
                </a:solidFill>
              </a:defRPr>
            </a:pPr>
            <a:r>
              <a:t>Replayable Trace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6217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EEF2F6"/>
                </a:solidFill>
              </a:defRPr>
            </a:pPr>
            <a:r>
              <a:t>总体架构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502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CBD5E1"/>
                </a:solidFill>
              </a:defRPr>
            </a:pPr>
            <a:r>
              <a:t>Gateway + AgentOS Kernel + Tool</a:t>
            </a:r>
          </a:p>
          <a:p>
            <a:pPr>
              <a:spcAft>
                <a:spcPts val="800"/>
              </a:spcAft>
              <a:defRPr sz="2100">
                <a:solidFill>
                  <a:srgbClr val="CBD5E1"/>
                </a:solidFill>
              </a:defRPr>
            </a:pPr>
            <a:r>
              <a:t>Sandbox + Memory + Trace + Plugin +</a:t>
            </a:r>
          </a:p>
          <a:p>
            <a:pPr>
              <a:spcAft>
                <a:spcPts val="800"/>
              </a:spcAft>
              <a:defRPr sz="2100">
                <a:solidFill>
                  <a:srgbClr val="CBD5E1"/>
                </a:solidFill>
              </a:defRPr>
            </a:pPr>
            <a:r>
              <a:t>Applications。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89320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9D2B4"/>
                </a:solidFill>
              </a:defRPr>
            </a:pPr>
            <a:r>
              <a:t>Agent Runtime · AgentOS Kernel · Workflow Orchestration · Permission Governance · Trace Replay</a:t>
            </a:r>
          </a:p>
        </p:txBody>
      </p:sp>
      <p:pic>
        <p:nvPicPr>
          <p:cNvPr id="5" name="Picture 4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0" y="960120"/>
            <a:ext cx="5989320" cy="49834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6217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EEF2F6"/>
                </a:solidFill>
              </a:defRPr>
            </a:pPr>
            <a:r>
              <a:t>AgentOS Kernel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502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CBD5E1"/>
                </a:solidFill>
              </a:defRPr>
            </a:pPr>
            <a:r>
              <a:t>Runtime Kernel、State Manager、Event</a:t>
            </a:r>
          </a:p>
          <a:p>
            <a:pPr>
              <a:spcAft>
                <a:spcPts val="800"/>
              </a:spcAft>
              <a:defRPr sz="2100">
                <a:solidFill>
                  <a:srgbClr val="CBD5E1"/>
                </a:solidFill>
              </a:defRPr>
            </a:pPr>
            <a:r>
              <a:t>Bus、Scheduler、Policy Engine。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89320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9D2B4"/>
                </a:solidFill>
              </a:defRPr>
            </a:pPr>
            <a:r>
              <a:t>Agent Runtime · AgentOS Kernel · Workflow Orchestration · Permission Governance · Trace Replay</a:t>
            </a:r>
          </a:p>
        </p:txBody>
      </p:sp>
      <p:pic>
        <p:nvPicPr>
          <p:cNvPr id="5" name="Picture 4" descr="agentos_ker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0" y="960120"/>
            <a:ext cx="5989320" cy="49834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6217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EEF2F6"/>
                </a:solidFill>
              </a:defRPr>
            </a:pPr>
            <a:r>
              <a:t>Agent Runtime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502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CBD5E1"/>
                </a:solidFill>
              </a:defRPr>
            </a:pPr>
            <a:r>
              <a:t>Planner 生成 Plan，Executor 执行 Step，Tool</a:t>
            </a:r>
          </a:p>
          <a:p>
            <a:pPr>
              <a:spcAft>
                <a:spcPts val="800"/>
              </a:spcAft>
              <a:defRPr sz="2100">
                <a:solidFill>
                  <a:srgbClr val="CBD5E1"/>
                </a:solidFill>
              </a:defRPr>
            </a:pPr>
            <a:r>
              <a:t>Registry 提供能力边界。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89320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9D2B4"/>
                </a:solidFill>
              </a:defRPr>
            </a:pPr>
            <a:r>
              <a:t>Agent Runtime · AgentOS Kernel · Workflow Orchestration · Permission Governance · Trace Replay</a:t>
            </a:r>
          </a:p>
        </p:txBody>
      </p:sp>
      <p:pic>
        <p:nvPicPr>
          <p:cNvPr id="5" name="Picture 4" descr="work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0" y="960120"/>
            <a:ext cx="5989320" cy="49834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6217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EEF2F6"/>
                </a:solidFill>
              </a:defRPr>
            </a:pPr>
            <a:r>
              <a:t>Workflow + Checkpoint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502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CBD5E1"/>
                </a:solidFill>
              </a:defRPr>
            </a:pPr>
            <a:r>
              <a:t>Step Graph、Retry</a:t>
            </a:r>
          </a:p>
          <a:p>
            <a:pPr>
              <a:spcAft>
                <a:spcPts val="800"/>
              </a:spcAft>
              <a:defRPr sz="2100">
                <a:solidFill>
                  <a:srgbClr val="CBD5E1"/>
                </a:solidFill>
              </a:defRPr>
            </a:pPr>
            <a:r>
              <a:t>边界、Resume、Replay、Workflow Export。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89320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9D2B4"/>
                </a:solidFill>
              </a:defRPr>
            </a:pPr>
            <a:r>
              <a:t>Agent Runtime · AgentOS Kernel · Workflow Orchestration · Permission Governance · Trace Replay</a:t>
            </a:r>
          </a:p>
        </p:txBody>
      </p:sp>
      <p:pic>
        <p:nvPicPr>
          <p:cNvPr id="5" name="Picture 4" descr="work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0" y="960120"/>
            <a:ext cx="5989320" cy="49834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6217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EEF2F6"/>
                </a:solidFill>
              </a:defRPr>
            </a:pPr>
            <a:r>
              <a:t>Tool Sandbox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502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CBD5E1"/>
                </a:solidFill>
              </a:defRPr>
            </a:pPr>
            <a:r>
              <a:t>BaseTool 元数据、risk_level、schema、shell</a:t>
            </a:r>
          </a:p>
          <a:p>
            <a:pPr>
              <a:spcAft>
                <a:spcPts val="800"/>
              </a:spcAft>
              <a:defRPr sz="2100">
                <a:solidFill>
                  <a:srgbClr val="CBD5E1"/>
                </a:solidFill>
              </a:defRPr>
            </a:pPr>
            <a:r>
              <a:t>白名单。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89320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9D2B4"/>
                </a:solidFill>
              </a:defRPr>
            </a:pPr>
            <a:r>
              <a:t>Agent Runtime · AgentOS Kernel · Workflow Orchestration · Permission Governance · Trace Replay</a:t>
            </a:r>
          </a:p>
        </p:txBody>
      </p:sp>
      <p:pic>
        <p:nvPicPr>
          <p:cNvPr id="5" name="Picture 4" descr="tool_govern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0" y="960120"/>
            <a:ext cx="5989320" cy="49834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6217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EEF2F6"/>
                </a:solidFill>
              </a:defRPr>
            </a:pPr>
            <a:r>
              <a:t>Permission Governance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502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CBD5E1"/>
                </a:solidFill>
              </a:defRPr>
            </a:pPr>
            <a:r>
              <a:t>allow / ask / deny、Human-in-the-</a:t>
            </a:r>
          </a:p>
          <a:p>
            <a:pPr>
              <a:spcAft>
                <a:spcPts val="800"/>
              </a:spcAft>
              <a:defRPr sz="2100">
                <a:solidFill>
                  <a:srgbClr val="CBD5E1"/>
                </a:solidFill>
              </a:defRPr>
            </a:pPr>
            <a:r>
              <a:t>loop、Audit Log。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89320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9D2B4"/>
                </a:solidFill>
              </a:defRPr>
            </a:pPr>
            <a:r>
              <a:t>Agent Runtime · AgentOS Kernel · Workflow Orchestration · Permission Governance · Trace Replay</a:t>
            </a:r>
          </a:p>
        </p:txBody>
      </p:sp>
      <p:pic>
        <p:nvPicPr>
          <p:cNvPr id="5" name="Picture 4" descr="web_govern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0" y="960120"/>
            <a:ext cx="5989320" cy="498348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6217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EEF2F6"/>
                </a:solidFill>
              </a:defRPr>
            </a:pPr>
            <a:r>
              <a:t>Human Approval Queue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502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CBD5E1"/>
                </a:solidFill>
              </a:defRPr>
            </a:pPr>
            <a:r>
              <a:t>Web/API/CLI approve or deny pending</a:t>
            </a:r>
          </a:p>
          <a:p>
            <a:pPr>
              <a:spcAft>
                <a:spcPts val="800"/>
              </a:spcAft>
              <a:defRPr sz="2100">
                <a:solidFill>
                  <a:srgbClr val="CBD5E1"/>
                </a:solidFill>
              </a:defRPr>
            </a:pPr>
            <a:r>
              <a:t>high-risk tool calls with trace and</a:t>
            </a:r>
          </a:p>
          <a:p>
            <a:pPr>
              <a:spcAft>
                <a:spcPts val="800"/>
              </a:spcAft>
              <a:defRPr sz="2100">
                <a:solidFill>
                  <a:srgbClr val="CBD5E1"/>
                </a:solidFill>
              </a:defRPr>
            </a:pPr>
            <a:r>
              <a:t>audit updates.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89320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9D2B4"/>
                </a:solidFill>
              </a:defRPr>
            </a:pPr>
            <a:r>
              <a:t>Agent Runtime · AgentOS Kernel · Workflow Orchestration · Permission Governance · Trace Replay</a:t>
            </a:r>
          </a:p>
        </p:txBody>
      </p:sp>
      <p:pic>
        <p:nvPicPr>
          <p:cNvPr id="5" name="Picture 4" descr="web_approva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0" y="960120"/>
            <a:ext cx="5989320" cy="498348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6217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EEF2F6"/>
                </a:solidFill>
              </a:defRPr>
            </a:pPr>
            <a:r>
              <a:t>Memory Layer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502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CBD5E1"/>
                </a:solidFill>
              </a:defRPr>
            </a:pPr>
            <a:r>
              <a:t>SQLite 长期记忆、keyword search、hit</a:t>
            </a:r>
          </a:p>
          <a:p>
            <a:pPr>
              <a:spcAft>
                <a:spcPts val="800"/>
              </a:spcAft>
              <a:defRPr sz="2100">
                <a:solidFill>
                  <a:srgbClr val="CBD5E1"/>
                </a:solidFill>
              </a:defRPr>
            </a:pPr>
            <a:r>
              <a:t>count、vector interface。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89320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9D2B4"/>
                </a:solidFill>
              </a:defRPr>
            </a:pPr>
            <a:r>
              <a:t>Agent Runtime · AgentOS Kernel · Workflow Orchestration · Permission Governance · Trace Replay</a:t>
            </a:r>
          </a:p>
        </p:txBody>
      </p:sp>
      <p:pic>
        <p:nvPicPr>
          <p:cNvPr id="5" name="Picture 4" descr="web_mem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0" y="960120"/>
            <a:ext cx="5989320" cy="498348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6217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EEF2F6"/>
                </a:solidFill>
              </a:defRPr>
            </a:pPr>
            <a:r>
              <a:t>Observability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502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CBD5E1"/>
                </a:solidFill>
              </a:defRPr>
            </a:pPr>
            <a:r>
              <a:t>Trace Timeline、Metrics、Error、Cost</a:t>
            </a:r>
          </a:p>
          <a:p>
            <a:pPr>
              <a:spcAft>
                <a:spcPts val="800"/>
              </a:spcAft>
              <a:defRPr sz="2100">
                <a:solidFill>
                  <a:srgbClr val="CBD5E1"/>
                </a:solidFill>
              </a:defRPr>
            </a:pPr>
            <a:r>
              <a:t>estimation、Replay。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89320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9D2B4"/>
                </a:solidFill>
              </a:defRPr>
            </a:pPr>
            <a:r>
              <a:t>Agent Runtime · AgentOS Kernel · Workflow Orchestration · Permission Governance · Trace Replay</a:t>
            </a:r>
          </a:p>
        </p:txBody>
      </p:sp>
      <p:pic>
        <p:nvPicPr>
          <p:cNvPr id="5" name="Picture 4" descr="web_trace_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0" y="960120"/>
            <a:ext cx="5989320" cy="498348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6217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EEF2F6"/>
                </a:solidFill>
              </a:defRPr>
            </a:pPr>
            <a:r>
              <a:t>Prompt Registry + Cost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502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CBD5E1"/>
                </a:solidFill>
              </a:defRPr>
            </a:pPr>
            <a:r>
              <a:t>Prompt templates, usage count,</a:t>
            </a:r>
          </a:p>
          <a:p>
            <a:pPr>
              <a:spcAft>
                <a:spcPts val="800"/>
              </a:spcAft>
              <a:defRPr sz="2100">
                <a:solidFill>
                  <a:srgbClr val="CBD5E1"/>
                </a:solidFill>
              </a:defRPr>
            </a:pPr>
            <a:r>
              <a:t>estimated tokens, cost and failure</a:t>
            </a:r>
          </a:p>
          <a:p>
            <a:pPr>
              <a:spcAft>
                <a:spcPts val="800"/>
              </a:spcAft>
              <a:defRPr sz="2100">
                <a:solidFill>
                  <a:srgbClr val="CBD5E1"/>
                </a:solidFill>
              </a:defRPr>
            </a:pPr>
            <a:r>
              <a:t>analysis.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89320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9D2B4"/>
                </a:solidFill>
              </a:defRPr>
            </a:pPr>
            <a:r>
              <a:t>Agent Runtime · AgentOS Kernel · Workflow Orchestration · Permission Governance · Trace Replay</a:t>
            </a:r>
          </a:p>
        </p:txBody>
      </p:sp>
      <p:pic>
        <p:nvPicPr>
          <p:cNvPr id="5" name="Picture 4" descr="web_cost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0" y="960120"/>
            <a:ext cx="5989320" cy="498348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6217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EEF2F6"/>
                </a:solidFill>
              </a:defRPr>
            </a:pPr>
            <a:r>
              <a:t>Tool Usage Heatmap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502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CBD5E1"/>
                </a:solidFill>
              </a:defRPr>
            </a:pPr>
            <a:r>
              <a:t>Aggregate real tool_call trace events</a:t>
            </a:r>
          </a:p>
          <a:p>
            <a:pPr>
              <a:spcAft>
                <a:spcPts val="800"/>
              </a:spcAft>
              <a:defRPr sz="2100">
                <a:solidFill>
                  <a:srgbClr val="CBD5E1"/>
                </a:solidFill>
              </a:defRPr>
            </a:pPr>
            <a:r>
              <a:t>to show runtime behavior and</a:t>
            </a:r>
          </a:p>
          <a:p>
            <a:pPr>
              <a:spcAft>
                <a:spcPts val="800"/>
              </a:spcAft>
              <a:defRPr sz="2100">
                <a:solidFill>
                  <a:srgbClr val="CBD5E1"/>
                </a:solidFill>
              </a:defRPr>
            </a:pPr>
            <a:r>
              <a:t>infrastructure observability.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89320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9D2B4"/>
                </a:solidFill>
              </a:defRPr>
            </a:pPr>
            <a:r>
              <a:t>Agent Runtime · AgentOS Kernel · Workflow Orchestration · Permission Governance · Trace Replay</a:t>
            </a:r>
          </a:p>
        </p:txBody>
      </p:sp>
      <p:pic>
        <p:nvPicPr>
          <p:cNvPr id="5" name="Picture 4" descr="web_tool_usage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0" y="960120"/>
            <a:ext cx="5989320" cy="498348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6217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EEF2F6"/>
                </a:solidFill>
              </a:defRPr>
            </a:pPr>
            <a:r>
              <a:t>Multi-channel Gateway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502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CBD5E1"/>
                </a:solidFill>
              </a:defRPr>
            </a:pPr>
            <a:r>
              <a:t>CLI、FastAPI、Web UI 共享同一个 Runtime。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89320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9D2B4"/>
                </a:solidFill>
              </a:defRPr>
            </a:pPr>
            <a:r>
              <a:t>Agent Runtime · AgentOS Kernel · Workflow Orchestration · Permission Governance · Trace Replay</a:t>
            </a:r>
          </a:p>
        </p:txBody>
      </p:sp>
      <p:pic>
        <p:nvPicPr>
          <p:cNvPr id="5" name="Picture 4" descr="web_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0" y="960120"/>
            <a:ext cx="5989320" cy="498348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6217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EEF2F6"/>
                </a:solidFill>
              </a:defRPr>
            </a:pPr>
            <a:r>
              <a:t>Plugin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502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CBD5E1"/>
                </a:solidFill>
              </a:defRPr>
            </a:pPr>
            <a:r>
              <a:t>Manifest-driven Plugin Registry and</a:t>
            </a:r>
          </a:p>
          <a:p>
            <a:pPr>
              <a:spcAft>
                <a:spcPts val="800"/>
              </a:spcAft>
              <a:defRPr sz="2100">
                <a:solidFill>
                  <a:srgbClr val="CBD5E1"/>
                </a:solidFill>
              </a:defRPr>
            </a:pPr>
            <a:r>
              <a:t>MCP-like connector expansion.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89320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9D2B4"/>
                </a:solidFill>
              </a:defRPr>
            </a:pPr>
            <a:r>
              <a:t>Agent Runtime · AgentOS Kernel · Workflow Orchestration · Permission Governance · Trace Replay</a:t>
            </a:r>
          </a:p>
        </p:txBody>
      </p:sp>
      <p:pic>
        <p:nvPicPr>
          <p:cNvPr id="5" name="Picture 4" descr="plugin_syst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0" y="960120"/>
            <a:ext cx="5989320" cy="498348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6217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EEF2F6"/>
                </a:solidFill>
              </a:defRPr>
            </a:pPr>
            <a:r>
              <a:t>Multi-agent Collaboration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502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CBD5E1"/>
                </a:solidFill>
              </a:defRPr>
            </a:pPr>
            <a:r>
              <a:t>ManagerAgent、ResearchAgent、ToolAgent、C</a:t>
            </a:r>
          </a:p>
          <a:p>
            <a:pPr>
              <a:spcAft>
                <a:spcPts val="800"/>
              </a:spcAft>
              <a:defRPr sz="2100">
                <a:solidFill>
                  <a:srgbClr val="CBD5E1"/>
                </a:solidFill>
              </a:defRPr>
            </a:pPr>
            <a:r>
              <a:t>riticAgent、ReportAgent。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89320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9D2B4"/>
                </a:solidFill>
              </a:defRPr>
            </a:pPr>
            <a:r>
              <a:t>Agent Runtime · AgentOS Kernel · Workflow Orchestration · Permission Governance · Trace Replay</a:t>
            </a:r>
          </a:p>
        </p:txBody>
      </p:sp>
      <p:pic>
        <p:nvPicPr>
          <p:cNvPr id="5" name="Picture 4" descr="multi_agent_topolog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0" y="960120"/>
            <a:ext cx="5989320" cy="498348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6217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EEF2F6"/>
                </a:solidFill>
              </a:defRPr>
            </a:pPr>
            <a:r>
              <a:t>RAG Module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502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CBD5E1"/>
                </a:solidFill>
              </a:defRPr>
            </a:pPr>
            <a:r>
              <a:t>Document ingestion、chunk、retrieval</a:t>
            </a:r>
          </a:p>
          <a:p>
            <a:pPr>
              <a:spcAft>
                <a:spcPts val="800"/>
              </a:spcAft>
              <a:defRPr sz="2100">
                <a:solidFill>
                  <a:srgbClr val="CBD5E1"/>
                </a:solidFill>
              </a:defRPr>
            </a:pPr>
            <a:r>
              <a:t>trace、grounded answer。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89320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9D2B4"/>
                </a:solidFill>
              </a:defRPr>
            </a:pPr>
            <a:r>
              <a:t>Agent Runtime · AgentOS Kernel · Workflow Orchestration · Permission Governance · Trace Replay</a:t>
            </a:r>
          </a:p>
        </p:txBody>
      </p:sp>
      <p:pic>
        <p:nvPicPr>
          <p:cNvPr id="5" name="Picture 4" descr="rag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0" y="960120"/>
            <a:ext cx="5989320" cy="498348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6217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EEF2F6"/>
                </a:solidFill>
              </a:defRPr>
            </a:pPr>
            <a:r>
              <a:t>From Demo to Example Application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502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CBD5E1"/>
                </a:solidFill>
              </a:defRPr>
            </a:pPr>
            <a:r>
              <a:t>Example Applications 不是孤立脚本，而是 Runtime</a:t>
            </a:r>
          </a:p>
          <a:p>
            <a:pPr>
              <a:spcAft>
                <a:spcPts val="800"/>
              </a:spcAft>
              <a:defRPr sz="2100">
                <a:solidFill>
                  <a:srgbClr val="CBD5E1"/>
                </a:solidFill>
              </a:defRPr>
            </a:pPr>
            <a:r>
              <a:t>验证工作负载。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89320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9D2B4"/>
                </a:solidFill>
              </a:defRPr>
            </a:pPr>
            <a:r>
              <a:t>Agent Runtime · AgentOS Kernel · Workflow Orchestration · Permission Governance · Trace Replay</a:t>
            </a:r>
          </a:p>
        </p:txBody>
      </p:sp>
      <p:pic>
        <p:nvPicPr>
          <p:cNvPr id="5" name="Picture 4" descr="example_application_st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0" y="960120"/>
            <a:ext cx="5989320" cy="498348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6217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EEF2F6"/>
                </a:solidFill>
              </a:defRPr>
            </a:pPr>
            <a:r>
              <a:t>Application 1: Research Assistant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502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CBD5E1"/>
                </a:solidFill>
              </a:defRPr>
            </a:pPr>
            <a:r>
              <a:t>生成项目摘要、报告大纲、TODO，并写入</a:t>
            </a:r>
          </a:p>
          <a:p>
            <a:pPr>
              <a:spcAft>
                <a:spcPts val="800"/>
              </a:spcAft>
              <a:defRPr sz="2100">
                <a:solidFill>
                  <a:srgbClr val="CBD5E1"/>
                </a:solidFill>
              </a:defRPr>
            </a:pPr>
            <a:r>
              <a:t>trace/memory/checkpoint。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89320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9D2B4"/>
                </a:solidFill>
              </a:defRPr>
            </a:pPr>
            <a:r>
              <a:t>Agent Runtime · AgentOS Kernel · Workflow Orchestration · Permission Governance · Trace Replay</a:t>
            </a:r>
          </a:p>
        </p:txBody>
      </p:sp>
      <p:pic>
        <p:nvPicPr>
          <p:cNvPr id="5" name="Picture 4" descr="cli_research_applic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0" y="960120"/>
            <a:ext cx="5989320" cy="498348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6217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EEF2F6"/>
                </a:solidFill>
              </a:defRPr>
            </a:pPr>
            <a:r>
              <a:t>Application 2: Personal Assistant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502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CBD5E1"/>
                </a:solidFill>
              </a:defRPr>
            </a:pPr>
            <a:r>
              <a:t>生成 daily_plan.md 并写入长期记忆。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89320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9D2B4"/>
                </a:solidFill>
              </a:defRPr>
            </a:pPr>
            <a:r>
              <a:t>Agent Runtime · AgentOS Kernel · Workflow Orchestration · Permission Governance · Trace Replay</a:t>
            </a:r>
          </a:p>
        </p:txBody>
      </p:sp>
      <p:pic>
        <p:nvPicPr>
          <p:cNvPr id="5" name="Picture 4" descr="web_mem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0" y="960120"/>
            <a:ext cx="5989320" cy="498348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6217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EEF2F6"/>
                </a:solidFill>
              </a:defRPr>
            </a:pPr>
            <a:r>
              <a:t>Application 3: Safe Tool Call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502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CBD5E1"/>
                </a:solidFill>
              </a:defRPr>
            </a:pPr>
            <a:r>
              <a:t>高风险删除请求转为 dry-run，记录 audit。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89320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9D2B4"/>
                </a:solidFill>
              </a:defRPr>
            </a:pPr>
            <a:r>
              <a:t>Agent Runtime · AgentOS Kernel · Workflow Orchestration · Permission Governance · Trace Replay</a:t>
            </a:r>
          </a:p>
        </p:txBody>
      </p:sp>
      <p:pic>
        <p:nvPicPr>
          <p:cNvPr id="5" name="Picture 4" descr="web_audit_lo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0" y="960120"/>
            <a:ext cx="5989320" cy="498348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6217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EEF2F6"/>
                </a:solidFill>
              </a:defRPr>
            </a:pPr>
            <a:r>
              <a:t>Application 4: Multi-agent / RAG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502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CBD5E1"/>
                </a:solidFill>
              </a:defRPr>
            </a:pPr>
            <a:r>
              <a:t>多角色协作与文档检索回答均通过统一 Runtime。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89320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9D2B4"/>
                </a:solidFill>
              </a:defRPr>
            </a:pPr>
            <a:r>
              <a:t>Agent Runtime · AgentOS Kernel · Workflow Orchestration · Permission Governance · Trace Replay</a:t>
            </a:r>
          </a:p>
        </p:txBody>
      </p:sp>
      <p:pic>
        <p:nvPicPr>
          <p:cNvPr id="5" name="Picture 4" descr="web_multi_ag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0" y="960120"/>
            <a:ext cx="5989320" cy="498348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6217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EEF2F6"/>
                </a:solidFill>
              </a:defRPr>
            </a:pPr>
            <a:r>
              <a:t>Benchmark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502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CBD5E1"/>
                </a:solidFill>
              </a:defRPr>
            </a:pPr>
            <a:r>
              <a:t>真实 Runtime 任务生成 latency、success</a:t>
            </a:r>
          </a:p>
          <a:p>
            <a:pPr>
              <a:spcAft>
                <a:spcPts val="800"/>
              </a:spcAft>
              <a:defRPr sz="2100">
                <a:solidFill>
                  <a:srgbClr val="CBD5E1"/>
                </a:solidFill>
              </a:defRPr>
            </a:pPr>
            <a:r>
              <a:t>rate、tool calls、trace events。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89320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9D2B4"/>
                </a:solidFill>
              </a:defRPr>
            </a:pPr>
            <a:r>
              <a:t>Agent Runtime · AgentOS Kernel · Workflow Orchestration · Permission Governance · Trace Replay</a:t>
            </a:r>
          </a:p>
        </p:txBody>
      </p:sp>
      <p:pic>
        <p:nvPicPr>
          <p:cNvPr id="5" name="Picture 4" descr="benchmark_laten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0" y="960120"/>
            <a:ext cx="5989320" cy="498348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6217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EEF2F6"/>
                </a:solidFill>
              </a:defRPr>
            </a:pPr>
            <a:r>
              <a:t>开源协议与社区规范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502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CBD5E1"/>
                </a:solidFill>
              </a:defRPr>
            </a:pPr>
            <a:r>
              <a:t>Apache-</a:t>
            </a:r>
          </a:p>
          <a:p>
            <a:pPr>
              <a:spcAft>
                <a:spcPts val="800"/>
              </a:spcAft>
              <a:defRPr sz="2100">
                <a:solidFill>
                  <a:srgbClr val="CBD5E1"/>
                </a:solidFill>
              </a:defRPr>
            </a:pPr>
            <a:r>
              <a:t>2.0、CONTRIBUTING、SECURITY、GOVERNANCE、R</a:t>
            </a:r>
          </a:p>
          <a:p>
            <a:pPr>
              <a:spcAft>
                <a:spcPts val="800"/>
              </a:spcAft>
              <a:defRPr sz="2100">
                <a:solidFill>
                  <a:srgbClr val="CBD5E1"/>
                </a:solidFill>
              </a:defRPr>
            </a:pPr>
            <a:r>
              <a:t>OADMAP。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89320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9D2B4"/>
                </a:solidFill>
              </a:defRPr>
            </a:pPr>
            <a:r>
              <a:t>Agent Runtime · AgentOS Kernel · Workflow Orchestration · Permission Governance · Trace Replay</a:t>
            </a:r>
          </a:p>
        </p:txBody>
      </p:sp>
      <p:sp>
        <p:nvSpPr>
          <p:cNvPr id="5" name="Rectangle 4"/>
          <p:cNvSpPr/>
          <p:nvPr/>
        </p:nvSpPr>
        <p:spPr>
          <a:xfrm>
            <a:off x="5806440" y="1143000"/>
            <a:ext cx="5394960" cy="4297680"/>
          </a:xfrm>
          <a:prstGeom prst="rect">
            <a:avLst/>
          </a:prstGeom>
          <a:solidFill>
            <a:srgbClr val="171B22"/>
          </a:solidFill>
          <a:ln>
            <a:solidFill>
              <a:srgbClr val="2B3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26480" y="1828800"/>
            <a:ext cx="475488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>
                <a:solidFill>
                  <a:srgbClr val="EEF2F6"/>
                </a:solidFill>
              </a:defRPr>
            </a:pPr>
            <a:r>
              <a:t>ClawFlow</a:t>
            </a:r>
          </a:p>
          <a:p>
            <a:pPr algn="ctr">
              <a:defRPr sz="2500">
                <a:solidFill>
                  <a:srgbClr val="EEF2F6"/>
                </a:solidFill>
              </a:defRPr>
            </a:pPr>
            <a:r>
              <a:t>Unified Runtime</a:t>
            </a:r>
          </a:p>
          <a:p>
            <a:pPr algn="ctr">
              <a:defRPr sz="2500">
                <a:solidFill>
                  <a:srgbClr val="EEF2F6"/>
                </a:solidFill>
              </a:defRPr>
            </a:pPr>
            <a:r>
              <a:t>Real State</a:t>
            </a:r>
          </a:p>
          <a:p>
            <a:pPr algn="ctr">
              <a:defRPr sz="2500">
                <a:solidFill>
                  <a:srgbClr val="EEF2F6"/>
                </a:solidFill>
              </a:defRPr>
            </a:pPr>
            <a:r>
              <a:t>Replayable Trace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6217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EEF2F6"/>
                </a:solidFill>
              </a:defRPr>
            </a:pPr>
            <a:r>
              <a:t>对比与差异化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502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CBD5E1"/>
                </a:solidFill>
              </a:defRPr>
            </a:pPr>
            <a:r>
              <a:t>从 demo.py 到可复用开发框架；从黑盒执行到可观测 Runtime。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89320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9D2B4"/>
                </a:solidFill>
              </a:defRPr>
            </a:pPr>
            <a:r>
              <a:t>Agent Runtime · AgentOS Kernel · Workflow Orchestration · Permission Governance · Trace Replay</a:t>
            </a:r>
          </a:p>
        </p:txBody>
      </p:sp>
      <p:sp>
        <p:nvSpPr>
          <p:cNvPr id="5" name="Rectangle 4"/>
          <p:cNvSpPr/>
          <p:nvPr/>
        </p:nvSpPr>
        <p:spPr>
          <a:xfrm>
            <a:off x="5806440" y="1143000"/>
            <a:ext cx="5394960" cy="4297680"/>
          </a:xfrm>
          <a:prstGeom prst="rect">
            <a:avLst/>
          </a:prstGeom>
          <a:solidFill>
            <a:srgbClr val="171B22"/>
          </a:solidFill>
          <a:ln>
            <a:solidFill>
              <a:srgbClr val="2B3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26480" y="1828800"/>
            <a:ext cx="475488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>
                <a:solidFill>
                  <a:srgbClr val="EEF2F6"/>
                </a:solidFill>
              </a:defRPr>
            </a:pPr>
            <a:r>
              <a:t>ClawFlow</a:t>
            </a:r>
          </a:p>
          <a:p>
            <a:pPr algn="ctr">
              <a:defRPr sz="2500">
                <a:solidFill>
                  <a:srgbClr val="EEF2F6"/>
                </a:solidFill>
              </a:defRPr>
            </a:pPr>
            <a:r>
              <a:t>Unified Runtime</a:t>
            </a:r>
          </a:p>
          <a:p>
            <a:pPr algn="ctr">
              <a:defRPr sz="2500">
                <a:solidFill>
                  <a:srgbClr val="EEF2F6"/>
                </a:solidFill>
              </a:defRPr>
            </a:pPr>
            <a:r>
              <a:t>Real State</a:t>
            </a:r>
          </a:p>
          <a:p>
            <a:pPr algn="ctr">
              <a:defRPr sz="2500">
                <a:solidFill>
                  <a:srgbClr val="EEF2F6"/>
                </a:solidFill>
              </a:defRPr>
            </a:pPr>
            <a:r>
              <a:t>Replayable Trace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6217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EEF2F6"/>
                </a:solidFill>
              </a:defRPr>
            </a:pPr>
            <a:r>
              <a:t>开发者框架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502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CBD5E1"/>
                </a:solidFill>
              </a:defRPr>
            </a:pPr>
            <a:r>
              <a:t>SDK wrapper、Application Template</a:t>
            </a:r>
          </a:p>
          <a:p>
            <a:pPr>
              <a:spcAft>
                <a:spcPts val="800"/>
              </a:spcAft>
              <a:defRPr sz="2100">
                <a:solidFill>
                  <a:srgbClr val="CBD5E1"/>
                </a:solidFill>
              </a:defRPr>
            </a:pPr>
            <a:r>
              <a:t>Generator、Tool Template</a:t>
            </a:r>
          </a:p>
          <a:p>
            <a:pPr>
              <a:spcAft>
                <a:spcPts val="800"/>
              </a:spcAft>
              <a:defRPr sz="2100">
                <a:solidFill>
                  <a:srgbClr val="CBD5E1"/>
                </a:solidFill>
              </a:defRPr>
            </a:pPr>
            <a:r>
              <a:t>Generator，支持二次开发。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89320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9D2B4"/>
                </a:solidFill>
              </a:defRPr>
            </a:pPr>
            <a:r>
              <a:t>Agent Runtime · AgentOS Kernel · Workflow Orchestration · Permission Governance · Trace Replay</a:t>
            </a:r>
          </a:p>
        </p:txBody>
      </p:sp>
      <p:pic>
        <p:nvPicPr>
          <p:cNvPr id="5" name="Picture 4" descr="web_applica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0" y="960120"/>
            <a:ext cx="5989320" cy="498348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6217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EEF2F6"/>
                </a:solidFill>
              </a:defRPr>
            </a:pPr>
            <a:r>
              <a:t>未来展望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502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CBD5E1"/>
                </a:solidFill>
              </a:defRPr>
            </a:pPr>
            <a:r>
              <a:t>MCP、云端部署、移动端入口、企业知识库、多模型路由、插件市场。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89320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9D2B4"/>
                </a:solidFill>
              </a:defRPr>
            </a:pPr>
            <a:r>
              <a:t>Agent Runtime · AgentOS Kernel · Workflow Orchestration · Permission Governance · Trace Replay</a:t>
            </a:r>
          </a:p>
        </p:txBody>
      </p:sp>
      <p:pic>
        <p:nvPicPr>
          <p:cNvPr id="5" name="Picture 4" descr="web_applica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0" y="960120"/>
            <a:ext cx="5989320" cy="498348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6217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EEF2F6"/>
                </a:solidFill>
              </a:defRPr>
            </a:pPr>
            <a:r>
              <a:t>总结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502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CBD5E1"/>
                </a:solidFill>
              </a:defRPr>
            </a:pPr>
            <a:r>
              <a:t>从 Prompt Demo 到 Agent Runtime；从孤立样例到统一</a:t>
            </a:r>
          </a:p>
          <a:p>
            <a:pPr>
              <a:spcAft>
                <a:spcPts val="800"/>
              </a:spcAft>
              <a:defRPr sz="2100">
                <a:solidFill>
                  <a:srgbClr val="CBD5E1"/>
                </a:solidFill>
              </a:defRPr>
            </a:pPr>
            <a:r>
              <a:t>Runtime 驱动的基础设施。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89320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9D2B4"/>
                </a:solidFill>
              </a:defRPr>
            </a:pPr>
            <a:r>
              <a:t>Agent Runtime · AgentOS Kernel · Workflow Orchestration · Permission Governance · Trace Replay</a:t>
            </a:r>
          </a:p>
        </p:txBody>
      </p:sp>
      <p:pic>
        <p:nvPicPr>
          <p:cNvPr id="5" name="Picture 4" descr="web_bench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0" y="960120"/>
            <a:ext cx="5989320" cy="49834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